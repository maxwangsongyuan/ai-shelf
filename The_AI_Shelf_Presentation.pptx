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ACC15"/>
                </a:solidFill>
                <a:latin typeface="Calibri"/>
              </a:defRPr>
            </a:pPr>
            <a:r>
              <a:t>The AI Shelf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D4D4D4"/>
                </a:solidFill>
                <a:latin typeface="Calibri"/>
              </a:defRPr>
            </a:pPr>
            <a:r>
              <a:t>Measure Your Brand's Visibility on the Invisible AI Shelf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3200400"/>
            <a:ext cx="7619695" cy="109728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0" y="3246120"/>
            <a:ext cx="7132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Think of AI as a store shelf. When someone asks ChatGPT</a:t>
            </a:r>
          </a:p>
          <a:p>
            <a:pPr algn="ctr"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"best dental lab in NJ", the brands it mentions are on that shelf.</a:t>
            </a:r>
          </a:p>
          <a:p>
            <a:pPr algn="ctr">
              <a:spcAft>
                <a:spcPts val="400"/>
              </a:spcAft>
              <a:defRPr sz="1600" b="1">
                <a:solidFill>
                  <a:srgbClr val="FACC15"/>
                </a:solidFill>
                <a:latin typeface="Calibri"/>
              </a:defRPr>
            </a:pPr>
            <a:r>
              <a:t>If you're not mentioned — you don't exist.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720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9C9C"/>
                </a:solidFill>
                <a:latin typeface="Calibri"/>
              </a:defRPr>
            </a:pPr>
            <a:r>
              <a:t>Pulse AI x CASTGNY Hackathon  |  Max Wang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1206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B82F6"/>
                </a:solidFill>
                <a:latin typeface="Calibri"/>
              </a:defRPr>
            </a:pPr>
            <a:r>
              <a:t>ai-shelf.vercel.app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The Invisible Crisis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9C9C"/>
                </a:solidFill>
                <a:latin typeface="Calibri"/>
              </a:defRPr>
            </a:pPr>
            <a:r>
              <a:t>What happens after a sales rep leaves a brochure?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5720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FACC15"/>
                </a:solidFill>
                <a:latin typeface="Calibri"/>
              </a:defRPr>
            </a:pPr>
            <a:r>
              <a:t>The Story of iCo Dental Group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D4D4D4"/>
                </a:solidFill>
                <a:latin typeface="Calibri"/>
              </a:defRPr>
            </a:pPr>
            <a:r>
              <a:t>Real NJ dental lab. 500+ practices. 5 years in business.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Their sales reps visit dentist offices every day,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leaving brochures and price quotes.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9C9C9C"/>
                </a:solidFill>
                <a:latin typeface="Calibri"/>
              </a:defRPr>
            </a:pPr>
            <a:r>
              <a:t>But after the sales rep leaves...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The dentist picks up their phone and asks AI: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2000" b="1">
                <a:solidFill>
                  <a:srgbClr val="06B6D4"/>
                </a:solidFill>
                <a:latin typeface="Calibri"/>
              </a:defRPr>
            </a:pPr>
            <a:r>
              <a:t>"Is iCo Dental Group any good?"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9C9C9C"/>
                </a:solidFill>
                <a:latin typeface="Calibri"/>
              </a:defRPr>
            </a:pPr>
            <a:r>
              <a:t>AI responds:</a:t>
            </a:r>
          </a:p>
          <a:p>
            <a:pPr algn="l">
              <a:spcAft>
                <a:spcPts val="400"/>
              </a:spcAft>
              <a:defRPr sz="1800" b="1">
                <a:solidFill>
                  <a:srgbClr val="EF4444"/>
                </a:solidFill>
                <a:latin typeface="Calibri"/>
              </a:defRPr>
            </a:pPr>
            <a:r>
              <a:t>"I don't have specific information</a:t>
            </a:r>
          </a:p>
          <a:p>
            <a:pPr algn="l">
              <a:spcAft>
                <a:spcPts val="400"/>
              </a:spcAft>
              <a:defRPr sz="1800" b="1">
                <a:solidFill>
                  <a:srgbClr val="EF4444"/>
                </a:solidFill>
                <a:latin typeface="Calibri"/>
              </a:defRPr>
            </a:pPr>
            <a:r>
              <a:t>  about iCo Dental Group..."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01168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37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EF4444"/>
                </a:solidFill>
                <a:latin typeface="Calibri"/>
              </a:defRPr>
            </a:pPr>
            <a:r>
              <a:t>The Result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Trust destroyed in 10 seconds.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Brochure goes in the trash.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9C9C9C"/>
                </a:solidFill>
                <a:latin typeface="Calibri"/>
              </a:defRPr>
            </a:pPr>
            <a:r>
              <a:t>5 years of marketing — invisible to 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2860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402336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FACC15"/>
                </a:solidFill>
                <a:latin typeface="Calibri"/>
              </a:defRPr>
            </a:pPr>
            <a:r>
              <a:t>GEO: The Next SEO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9C9C9C"/>
                </a:solidFill>
                <a:latin typeface="Calibri"/>
              </a:defRPr>
            </a:pPr>
            <a:r>
              <a:t>SEO = rank on Google (last 10 years)</a:t>
            </a:r>
          </a:p>
          <a:p>
            <a:pPr algn="l">
              <a:spcAft>
                <a:spcPts val="4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GEO = appear in AI answers (now)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9C9C9C"/>
                </a:solidFill>
                <a:latin typeface="Calibri"/>
              </a:defRPr>
            </a:pPr>
            <a:r>
              <a:t>24+ companies, $200M+ raised globally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9C9C9C"/>
                </a:solidFill>
                <a:latin typeface="Calibri"/>
              </a:defRPr>
            </a:pPr>
            <a:r>
              <a:t>Princeton research: GEO can boost</a:t>
            </a:r>
          </a:p>
          <a:p>
            <a:pPr algn="l">
              <a:spcAft>
                <a:spcPts val="400"/>
              </a:spcAft>
              <a:defRPr sz="1500" b="1">
                <a:solidFill>
                  <a:srgbClr val="22C55E"/>
                </a:solidFill>
                <a:latin typeface="Calibri"/>
              </a:defRPr>
            </a:pPr>
            <a:r>
              <a:t>AI brand visibility by 40%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6576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What The AI Shelf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058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C9C9C"/>
                </a:solidFill>
                <a:latin typeface="Calibri"/>
              </a:defRPr>
            </a:pPr>
            <a:r>
              <a:t>Three steps: Measure, Diagnose, Prescribe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3200400" cy="41148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03120" y="1920240"/>
            <a:ext cx="822960" cy="8229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0A0A0A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B82F6"/>
                </a:solidFill>
                <a:latin typeface="Calibri"/>
              </a:defRPr>
            </a:pPr>
            <a:r>
              <a:t>Measure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3832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Where are you on the</a:t>
            </a:r>
            <a:br/>
            <a:r>
              <a:t>AI shelf?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02336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D4D4D4"/>
                </a:solidFill>
                <a:latin typeface="Calibri"/>
              </a:defRPr>
            </a:pPr>
            <a:r>
              <a:t>Share of Model Score:</a:t>
            </a:r>
            <a:br/>
            <a:r>
              <a:t>Discovery Score + Trust Score</a:t>
            </a:r>
            <a:br/>
            <a:r>
              <a:t>tell you exactly how visible</a:t>
            </a:r>
            <a:br/>
            <a:r>
              <a:t>your brand is in AI responses.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737360"/>
            <a:ext cx="3200400" cy="41148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60720" y="1920240"/>
            <a:ext cx="822960" cy="822960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0A0A0A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9260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ACC15"/>
                </a:solidFill>
                <a:latin typeface="Calibri"/>
              </a:defRPr>
            </a:pPr>
            <a:r>
              <a:t>Diagnose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3832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Why are you there?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02336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D4D4D4"/>
                </a:solidFill>
                <a:latin typeface="Calibri"/>
              </a:defRPr>
            </a:pPr>
            <a:r>
              <a:t>Gap Analysis compares your</a:t>
            </a:r>
            <a:br/>
            <a:r>
              <a:t>brand vs competitors across</a:t>
            </a:r>
            <a:br/>
            <a:r>
              <a:t>Wikipedia, forums, reviews,</a:t>
            </a:r>
            <a:br/>
            <a:r>
              <a:t>structured data, and more.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737360"/>
            <a:ext cx="3200400" cy="41148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18320" y="1920240"/>
            <a:ext cx="822960" cy="82296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0A0A0A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9260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2C55E"/>
                </a:solidFill>
                <a:latin typeface="Calibri"/>
              </a:defRPr>
            </a:pPr>
            <a:r>
              <a:t>Prescribe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3832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How to move up?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02336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D4D4D4"/>
                </a:solidFill>
                <a:latin typeface="Calibri"/>
              </a:defRPr>
            </a:pPr>
            <a:r>
              <a:t>Prioritized Action Plan with</a:t>
            </a:r>
            <a:br/>
            <a:r>
              <a:t>auto-generated content:</a:t>
            </a:r>
            <a:br/>
            <a:r>
              <a:t>Wikipedia drafts, Schema.org</a:t>
            </a:r>
            <a:br/>
            <a:r>
              <a:t>code, comparison pages.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6576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Dual-Scenario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058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9C9C"/>
                </a:solidFill>
                <a:latin typeface="Calibri"/>
              </a:defRPr>
            </a:pPr>
            <a:r>
              <a:t>We cover BOTH ways customers interact with AI about your brand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029200" cy="438912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3B82F6"/>
                </a:solidFill>
                <a:latin typeface="Calibri"/>
              </a:defRPr>
            </a:pPr>
            <a:r>
              <a:t>Discovery Search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9C9C9C"/>
                </a:solidFill>
                <a:latin typeface="Calibri"/>
              </a:defRPr>
            </a:pPr>
            <a:r>
              <a:t>Can AI find you without knowing your name?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Example queries: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6B6D4"/>
                </a:solidFill>
                <a:latin typeface="Calibri"/>
              </a:defRPr>
            </a:pPr>
            <a:r>
              <a:t>"best dental lab in New Jersey"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6B6D4"/>
                </a:solidFill>
                <a:latin typeface="Calibri"/>
              </a:defRPr>
            </a:pPr>
            <a:r>
              <a:t>"affordable zirconia crown lab near me"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6B6D4"/>
                </a:solidFill>
                <a:latin typeface="Calibri"/>
              </a:defRPr>
            </a:pPr>
            <a:r>
              <a:t>"fast turnaround dental lab NJ"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800" b="1">
                <a:solidFill>
                  <a:srgbClr val="EF4444"/>
                </a:solidFill>
                <a:latin typeface="Calibri"/>
              </a:defRPr>
            </a:pPr>
            <a:r>
              <a:t>iCo Result: 0% Discovery Score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9C9C9C"/>
                </a:solidFill>
                <a:latin typeface="Calibri"/>
              </a:defRPr>
            </a:pPr>
            <a:r>
              <a:t>Not mentioned in ANY discovery query.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EF4444"/>
                </a:solidFill>
                <a:latin typeface="Calibri"/>
              </a:defRPr>
            </a:pPr>
            <a:r>
              <a:t>= Invisible on the AI shelf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737360"/>
            <a:ext cx="5029200" cy="438912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82880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>
                <a:solidFill>
                  <a:srgbClr val="A855F7"/>
                </a:solidFill>
                <a:latin typeface="Calibri"/>
              </a:defRPr>
            </a:pPr>
            <a:r>
              <a:t>Verification Search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9C9C9C"/>
                </a:solidFill>
                <a:latin typeface="Calibri"/>
              </a:defRPr>
            </a:pPr>
            <a:r>
              <a:t>Can AI vouch for you when asked directly?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Example queries: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6B6D4"/>
                </a:solidFill>
                <a:latin typeface="Calibri"/>
              </a:defRPr>
            </a:pPr>
            <a:r>
              <a:t>"Is iCo Dental Group reputable?"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6B6D4"/>
                </a:solidFill>
                <a:latin typeface="Calibri"/>
              </a:defRPr>
            </a:pPr>
            <a:r>
              <a:t>"iCo Dental Group services and prices?"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6B6D4"/>
                </a:solidFill>
                <a:latin typeface="Calibri"/>
              </a:defRPr>
            </a:pPr>
            <a:r>
              <a:t>"Reviews for iCo Dental Group?"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800" b="1">
                <a:solidFill>
                  <a:srgbClr val="FACC15"/>
                </a:solidFill>
                <a:latin typeface="Calibri"/>
              </a:defRPr>
            </a:pPr>
            <a:r>
              <a:t>iCo Result: 67% Trust Score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9C9C9C"/>
                </a:solidFill>
                <a:latin typeface="Calibri"/>
              </a:defRPr>
            </a:pPr>
            <a:r>
              <a:t>AI knows the name but can't describe it.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FACC15"/>
                </a:solidFill>
                <a:latin typeface="Calibri"/>
              </a:defRPr>
            </a:pPr>
            <a:r>
              <a:t>= Known but not trusted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2179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ACC15"/>
                </a:solidFill>
                <a:latin typeface="Calibri"/>
              </a:defRPr>
            </a:pPr>
            <a:r>
              <a:t>Key Insight: "AI knows you, but won't recommend you."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6-Step Analysis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737360" cy="5029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" y="128016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A0A0A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  <a:latin typeface="Calibri"/>
              </a:defRPr>
            </a:pPr>
            <a:r>
              <a:t>Query</a:t>
            </a:r>
            <a:br/>
            <a:r>
              <a:t>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108960"/>
            <a:ext cx="1463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D4D4D4"/>
                </a:solidFill>
                <a:latin typeface="Calibri"/>
              </a:defRPr>
            </a:pPr>
            <a:r>
              <a:t>Claude generates 6</a:t>
            </a:r>
            <a:br/>
            <a:r>
              <a:t>high-intent queries</a:t>
            </a:r>
            <a:br/>
            <a:r>
              <a:t>(3 discovery + 3 verification)</a:t>
            </a:r>
            <a:br/>
            <a:r>
              <a:t>with intent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C9C9C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1097280"/>
            <a:ext cx="1737360" cy="5029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880360" y="128016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A0A0A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19456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  <a:latin typeface="Calibri"/>
              </a:defRPr>
            </a:pPr>
            <a:r>
              <a:t>AI</a:t>
            </a:r>
            <a:br/>
            <a:r>
              <a:t>Responses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3108960"/>
            <a:ext cx="1463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D4D4D4"/>
                </a:solidFill>
                <a:latin typeface="Calibri"/>
              </a:defRPr>
            </a:pPr>
            <a:r>
              <a:t>Claude answers each</a:t>
            </a:r>
            <a:br/>
            <a:r>
              <a:t>query. JS string matching</a:t>
            </a:r>
            <a:br/>
            <a:r>
              <a:t>detects brand mentions,</a:t>
            </a:r>
            <a:br/>
            <a:r>
              <a:t>sentiment, competitors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C9C9C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097280"/>
            <a:ext cx="1737360" cy="5029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00600" y="1280160"/>
            <a:ext cx="731520" cy="7315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A0A0A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19456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B6D4"/>
                </a:solidFill>
                <a:latin typeface="Calibri"/>
              </a:defRPr>
            </a:pPr>
            <a:r>
              <a:t>Web Reality</a:t>
            </a:r>
            <a:br/>
            <a:r>
              <a:t>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108960"/>
            <a:ext cx="1463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D4D4D4"/>
                </a:solidFill>
                <a:latin typeface="Calibri"/>
              </a:defRPr>
            </a:pPr>
            <a:r>
              <a:t>Tavily searches same</a:t>
            </a:r>
            <a:br/>
            <a:r>
              <a:t>6 queries + brand</a:t>
            </a:r>
            <a:br/>
            <a:r>
              <a:t>presence. Compares</a:t>
            </a:r>
            <a:br/>
            <a:r>
              <a:t>AI vs real web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C9C9C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097280"/>
            <a:ext cx="1737360" cy="5029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720840" y="1280160"/>
            <a:ext cx="731520" cy="7315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A0A0A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19456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  <a:latin typeface="Calibri"/>
              </a:defRPr>
            </a:pPr>
            <a:r>
              <a:t>Scoring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108960"/>
            <a:ext cx="1463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D4D4D4"/>
                </a:solidFill>
                <a:latin typeface="Calibri"/>
              </a:defRPr>
            </a:pPr>
            <a:r>
              <a:t>Local computation.</a:t>
            </a:r>
            <a:br/>
            <a:r>
              <a:t>Discovery Score +</a:t>
            </a:r>
            <a:br/>
            <a:r>
              <a:t>Trust Score + Radar.</a:t>
            </a:r>
            <a:br/>
            <a:r>
              <a:t>Archetype classification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C9C9C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1097280"/>
            <a:ext cx="1737360" cy="5029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41080" y="1280160"/>
            <a:ext cx="731520" cy="731520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A0A0A"/>
                </a:solidFill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19456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ACC15"/>
                </a:solidFill>
                <a:latin typeface="Calibri"/>
              </a:defRPr>
            </a:pPr>
            <a:r>
              <a:t>Gap</a:t>
            </a:r>
            <a:br/>
            <a:r>
              <a:t>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3108960"/>
            <a:ext cx="1463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D4D4D4"/>
                </a:solidFill>
                <a:latin typeface="Calibri"/>
              </a:defRPr>
            </a:pPr>
            <a:r>
              <a:t>Tavily searches brand</a:t>
            </a:r>
            <a:br/>
            <a:r>
              <a:t>+ competitor presence.</a:t>
            </a:r>
            <a:br/>
            <a:r>
              <a:t>Claude finds specific</a:t>
            </a:r>
            <a:br/>
            <a:r>
              <a:t>gaps with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C9C9C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0" y="1097280"/>
            <a:ext cx="1737360" cy="5029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61320" y="1280160"/>
            <a:ext cx="731520" cy="7315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A0A0A"/>
                </a:solidFill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219456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A855F7"/>
                </a:solidFill>
                <a:latin typeface="Calibri"/>
              </a:defRPr>
            </a:pPr>
            <a:r>
              <a:t>Action</a:t>
            </a:r>
            <a:br/>
            <a:r>
              <a:t>Plan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5560" y="3108960"/>
            <a:ext cx="1463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D4D4D4"/>
                </a:solidFill>
                <a:latin typeface="Calibri"/>
              </a:defRPr>
            </a:pPr>
            <a:r>
              <a:t>Claude generates</a:t>
            </a:r>
            <a:br/>
            <a:r>
              <a:t>prioritized actions with</a:t>
            </a:r>
            <a:br/>
            <a:r>
              <a:t>auto-generated content</a:t>
            </a:r>
            <a:br/>
            <a:r>
              <a:t>(Wiki, Schema, etc.)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6217920"/>
            <a:ext cx="11247120" cy="54864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9C9C"/>
                </a:solidFill>
                <a:latin typeface="Calibri"/>
              </a:defRPr>
            </a:pPr>
            <a:r>
              <a:t>Per analysis:  6x Claude calls  +  12x Tavily calls  |  SSE streaming  |  ~30s total  |  ~$0.05 cost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Technical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029200" cy="530352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188720"/>
            <a:ext cx="45720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FACC15"/>
                </a:solidFill>
                <a:latin typeface="Calibri"/>
              </a:defRPr>
            </a:pPr>
            <a:r>
              <a:t>Tech Stack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3B82F6"/>
                </a:solidFill>
                <a:latin typeface="Calibri"/>
              </a:defRPr>
            </a:pPr>
            <a:r>
              <a:t>Frontend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Next.js 15 App Router + TypeScript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Tailwind CSS + shadcn/ui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Recharts (radar chart)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22C55E"/>
                </a:solidFill>
                <a:latin typeface="Calibri"/>
              </a:defRPr>
            </a:pPr>
            <a:r>
              <a:t>Backend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Next.js API Route (Node.js runtime)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SSE (Server-Sent Events) streaming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Zod schema + generateObject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A855F7"/>
                </a:solidFill>
                <a:latin typeface="Calibri"/>
              </a:defRPr>
            </a:pPr>
            <a:r>
              <a:t>AI &amp; Search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Claude Haiku 4.5 (via Vercel AI SDK)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Tavily Search API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JS string matching (brand analysis)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06B6D4"/>
                </a:solidFill>
                <a:latin typeface="Calibri"/>
              </a:defRPr>
            </a:pPr>
            <a:r>
              <a:t>Deployment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Vercel (Hobby plan, free)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60s max serverless function duration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212080" cy="530352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188720"/>
            <a:ext cx="47548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FACC15"/>
                </a:solidFill>
                <a:latin typeface="Calibri"/>
              </a:defRPr>
            </a:pPr>
            <a:r>
              <a:t>Data Flow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9C9C9C"/>
                </a:solidFill>
                <a:latin typeface="Calibri"/>
              </a:defRPr>
            </a:pPr>
            <a:r>
              <a:t>User Input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Brand + Category + Region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9C9C9C"/>
                </a:solidFill>
                <a:latin typeface="Calibri"/>
              </a:defRPr>
            </a:pPr>
            <a:r>
              <a:t>        |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6B6D4"/>
                </a:solidFill>
                <a:latin typeface="Calibri"/>
              </a:defRPr>
            </a:pPr>
            <a:r>
              <a:t>  POST /api/analyze (SSE stream)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9C9C9C"/>
                </a:solidFill>
                <a:latin typeface="Calibri"/>
              </a:defRPr>
            </a:pPr>
            <a:r>
              <a:t>        |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3B82F6"/>
                </a:solidFill>
                <a:latin typeface="Calibri"/>
              </a:defRPr>
            </a:pPr>
            <a:r>
              <a:t>Step 1: Claude generateObject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D4D4D4"/>
                </a:solidFill>
                <a:latin typeface="Calibri"/>
              </a:defRPr>
            </a:pPr>
            <a:r>
              <a:t>  -&gt; 6 queries with intent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9C9C9C"/>
                </a:solidFill>
                <a:latin typeface="Calibri"/>
              </a:defRPr>
            </a:pPr>
            <a:r>
              <a:t>        |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3B82F6"/>
                </a:solidFill>
                <a:latin typeface="Calibri"/>
              </a:defRPr>
            </a:pPr>
            <a:r>
              <a:t>Step 2+3: Parallel execution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D4D4D4"/>
                </a:solidFill>
                <a:latin typeface="Calibri"/>
              </a:defRPr>
            </a:pPr>
            <a:r>
              <a:t>  Claude x6 + Tavily x6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9C9C9C"/>
                </a:solidFill>
                <a:latin typeface="Calibri"/>
              </a:defRPr>
            </a:pPr>
            <a:r>
              <a:t>        |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2C55E"/>
                </a:solidFill>
                <a:latin typeface="Calibri"/>
              </a:defRPr>
            </a:pPr>
            <a:r>
              <a:t>Step 4: Local score computation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D4D4D4"/>
                </a:solidFill>
                <a:latin typeface="Calibri"/>
              </a:defRPr>
            </a:pPr>
            <a:r>
              <a:t>  + optional radar (Claude)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9C9C9C"/>
                </a:solidFill>
                <a:latin typeface="Calibri"/>
              </a:defRPr>
            </a:pPr>
            <a:r>
              <a:t>        |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ACC15"/>
                </a:solidFill>
                <a:latin typeface="Calibri"/>
              </a:defRPr>
            </a:pPr>
            <a:r>
              <a:t>Step 5: Tavily x6 + Claude analysis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D4D4D4"/>
                </a:solidFill>
                <a:latin typeface="Calibri"/>
              </a:defRPr>
            </a:pPr>
            <a:r>
              <a:t>  Brand vs competitor presence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9C9C9C"/>
                </a:solidFill>
                <a:latin typeface="Calibri"/>
              </a:defRPr>
            </a:pPr>
            <a:r>
              <a:t>        |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A855F7"/>
                </a:solidFill>
                <a:latin typeface="Calibri"/>
              </a:defRPr>
            </a:pPr>
            <a:r>
              <a:t>Step 6: Claude generateObject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D4D4D4"/>
                </a:solidFill>
                <a:latin typeface="Calibri"/>
              </a:defRPr>
            </a:pPr>
            <a:r>
              <a:t>  -&gt; Prioritized action plan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9C9C9C"/>
                </a:solidFill>
                <a:latin typeface="Calibri"/>
              </a:defRPr>
            </a:pPr>
            <a:r>
              <a:t>        |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Frontend renders each step live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Live Results: iCo Dental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2296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9C9C"/>
                </a:solidFill>
                <a:latin typeface="Calibri"/>
              </a:defRPr>
            </a:pPr>
            <a:r>
              <a:t>dental lab  |  New Jersey  |  Real brand, real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00400" cy="36576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FACC15"/>
                </a:solidFill>
                <a:latin typeface="Calibri"/>
              </a:defRPr>
            </a:pPr>
            <a: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C9C9C"/>
                </a:solidFill>
                <a:latin typeface="Calibri"/>
              </a:defRPr>
            </a:pPr>
            <a:r>
              <a:t>/100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ACC15"/>
                </a:solidFill>
                <a:latin typeface="Calibri"/>
              </a:defRPr>
            </a:pPr>
            <a:r>
              <a:t>Niche Player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9C9C"/>
                </a:solidFill>
                <a:latin typeface="Calibri"/>
              </a:defRPr>
            </a:pPr>
            <a:r>
              <a:t>AI knows you, won't recommend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55448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3B82F6"/>
                </a:solidFill>
                <a:latin typeface="Calibri"/>
              </a:defRPr>
            </a:pPr>
            <a:r>
              <a:t>Discovery Score</a:t>
            </a:r>
          </a:p>
          <a:p>
            <a:pPr algn="l">
              <a:spcAft>
                <a:spcPts val="400"/>
              </a:spcAft>
              <a:defRPr sz="3600" b="1">
                <a:solidFill>
                  <a:srgbClr val="EF4444"/>
                </a:solidFill>
                <a:latin typeface="Calibri"/>
              </a:defRPr>
            </a:pPr>
            <a:r>
              <a:t>0%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C9C9C"/>
                </a:solidFill>
                <a:latin typeface="Calibri"/>
              </a:defRPr>
            </a:pPr>
            <a:r>
              <a:t>Not in ANY general 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47472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56616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A855F7"/>
                </a:solidFill>
                <a:latin typeface="Calibri"/>
              </a:defRPr>
            </a:pPr>
            <a:r>
              <a:t>Trust Score</a:t>
            </a:r>
          </a:p>
          <a:p>
            <a:pPr algn="l">
              <a:spcAft>
                <a:spcPts val="400"/>
              </a:spcAft>
              <a:defRPr sz="3600" b="1">
                <a:solidFill>
                  <a:srgbClr val="FACC15"/>
                </a:solidFill>
                <a:latin typeface="Calibri"/>
              </a:defRPr>
            </a:pPr>
            <a:r>
              <a:t>67%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C9C9C"/>
                </a:solidFill>
                <a:latin typeface="Calibri"/>
              </a:defRPr>
            </a:pPr>
            <a:r>
              <a:t>Mentioned when asked directly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463040"/>
            <a:ext cx="3200400" cy="36576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155448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Query Results  (3/6 mentioned)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300" b="1">
                <a:solidFill>
                  <a:srgbClr val="3B82F6"/>
                </a:solidFill>
                <a:latin typeface="Calibri"/>
              </a:defRPr>
            </a:pPr>
            <a:r>
              <a:t>Discovery Queries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9C9C9C"/>
                </a:solidFill>
                <a:latin typeface="Calibri"/>
              </a:defRPr>
            </a:pPr>
            <a:r>
              <a:t>  best dental lab NJ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EF4444"/>
                </a:solidFill>
                <a:latin typeface="Calibri"/>
              </a:defRPr>
            </a:pPr>
            <a:r>
              <a:t>  -&gt; Not Mentioned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9C9C9C"/>
                </a:solidFill>
                <a:latin typeface="Calibri"/>
              </a:defRPr>
            </a:pPr>
            <a:r>
              <a:t>  reliable lab fast turnaround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EF4444"/>
                </a:solidFill>
                <a:latin typeface="Calibri"/>
              </a:defRPr>
            </a:pPr>
            <a:r>
              <a:t>  -&gt; Not Mentioned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9C9C9C"/>
                </a:solidFill>
                <a:latin typeface="Calibri"/>
              </a:defRPr>
            </a:pPr>
            <a:r>
              <a:t>  dentures and prosthetics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EF4444"/>
                </a:solidFill>
                <a:latin typeface="Calibri"/>
              </a:defRPr>
            </a:pPr>
            <a:r>
              <a:t>  -&gt; Not Mentioned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300" b="1">
                <a:solidFill>
                  <a:srgbClr val="A855F7"/>
                </a:solidFill>
                <a:latin typeface="Calibri"/>
              </a:defRPr>
            </a:pPr>
            <a:r>
              <a:t>Verification Queries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9C9C9C"/>
                </a:solidFill>
                <a:latin typeface="Calibri"/>
              </a:defRPr>
            </a:pPr>
            <a:r>
              <a:t>  Is iCo reputable?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2C55E"/>
                </a:solidFill>
                <a:latin typeface="Calibri"/>
              </a:defRPr>
            </a:pPr>
            <a:r>
              <a:t>  -&gt; Mentioned (Neutral)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9C9C9C"/>
                </a:solidFill>
                <a:latin typeface="Calibri"/>
              </a:defRPr>
            </a:pPr>
            <a:r>
              <a:t>  iCo services &amp; prices?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ACC15"/>
                </a:solidFill>
                <a:latin typeface="Calibri"/>
              </a:defRPr>
            </a:pPr>
            <a:r>
              <a:t>  -&gt; Mentioned (Negative)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9C9C9C"/>
                </a:solidFill>
                <a:latin typeface="Calibri"/>
              </a:defRPr>
            </a:pPr>
            <a:r>
              <a:t>  iCo reviews &amp; feedback?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2C55E"/>
                </a:solidFill>
                <a:latin typeface="Calibri"/>
              </a:defRPr>
            </a:pPr>
            <a:r>
              <a:t>  -&gt; Mentioned (Positive)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03520"/>
            <a:ext cx="10789920" cy="9144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3492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9C9C9C"/>
                </a:solidFill>
                <a:latin typeface="Calibri"/>
              </a:defRPr>
            </a:pPr>
            <a:r>
              <a:t>5-Dimension Radar:  Recognition | Sentiment | Relevance | Citation | Competitive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B82F6"/>
                </a:solidFill>
                <a:latin typeface="Calibri"/>
              </a:defRPr>
            </a:pPr>
            <a:r>
              <a:t>Interactive radar chart available in live demo at ai-shelf.vercel.app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Gap Analysis &amp; Action Plan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029200" cy="530352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188720"/>
            <a:ext cx="45720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EF4444"/>
                </a:solidFill>
                <a:latin typeface="Calibri"/>
              </a:defRPr>
            </a:pPr>
            <a:r>
              <a:t>Why AI Doesn't Know iCo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C9C9C"/>
                </a:solidFill>
                <a:latin typeface="Calibri"/>
              </a:defRPr>
            </a:pPr>
            <a:r>
              <a:t>(Gap Analysis — with evidence links)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Wikipedia Page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C9C9C"/>
                </a:solidFill>
                <a:latin typeface="Calibri"/>
              </a:defRPr>
            </a:pPr>
            <a:r>
              <a:t>  iCo: no     Competitor: no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Industry Association (ICOI)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C9C9C"/>
                </a:solidFill>
                <a:latin typeface="Calibri"/>
              </a:defRPr>
            </a:pPr>
            <a:r>
              <a:t>  iCo: no     Competitor: no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Google Business Profile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2C55E"/>
                </a:solidFill>
                <a:latin typeface="Calibri"/>
              </a:defRPr>
            </a:pPr>
            <a:r>
              <a:t>  iCo: YES    Competitor: no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LinkedIn Company Page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2C55E"/>
                </a:solidFill>
                <a:latin typeface="Calibri"/>
              </a:defRPr>
            </a:pPr>
            <a:r>
              <a:t>  iCo: YES    Competitor: no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Domain Authority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EF4444"/>
                </a:solidFill>
                <a:latin typeface="Calibri"/>
              </a:defRPr>
            </a:pPr>
            <a:r>
              <a:t>  Fragmented across multiple domains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Content Depth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EF4444"/>
                </a:solidFill>
                <a:latin typeface="Calibri"/>
              </a:defRPr>
            </a:pPr>
            <a:r>
              <a:t>  Only social snippets, no rich content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Brand Name Disambiguation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EF4444"/>
                </a:solidFill>
                <a:latin typeface="Calibri"/>
              </a:defRPr>
            </a:pPr>
            <a:r>
              <a:t>  'iCo' matches unrelated entities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06B6D4"/>
                </a:solidFill>
                <a:latin typeface="Calibri"/>
              </a:defRPr>
            </a:pPr>
            <a:r>
              <a:t>Every gap has a clickable evidence URL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212080" cy="530352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188720"/>
            <a:ext cx="47548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22C55E"/>
                </a:solidFill>
                <a:latin typeface="Calibri"/>
              </a:defRPr>
            </a:pPr>
            <a:r>
              <a:t>Prioritized Action Plan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C9C9C"/>
                </a:solidFill>
                <a:latin typeface="Calibri"/>
              </a:defRPr>
            </a:pPr>
            <a:r>
              <a:t>(Auto-generated by Claude)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EF4444"/>
                </a:solidFill>
                <a:latin typeface="Calibri"/>
              </a:defRPr>
            </a:pPr>
            <a:r>
              <a:t>Priority 1: This Week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Schema.org JSON-LD markup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2C55E"/>
                </a:solidFill>
                <a:latin typeface="Calibri"/>
              </a:defRPr>
            </a:pPr>
            <a:r>
              <a:t>    -&gt; +40-60% entity recognition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Service taxonomy &amp; content hub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2C55E"/>
                </a:solidFill>
                <a:latin typeface="Calibri"/>
              </a:defRPr>
            </a:pPr>
            <a:r>
              <a:t>    -&gt; +200-300% discoverable content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Domain consolidation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2C55E"/>
                </a:solidFill>
                <a:latin typeface="Calibri"/>
              </a:defRPr>
            </a:pPr>
            <a:r>
              <a:t>    -&gt; -70% entity confusion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FACC15"/>
                </a:solidFill>
                <a:latin typeface="Calibri"/>
              </a:defRPr>
            </a:pPr>
            <a:r>
              <a:t>Priority 2: This Month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ICOI membership application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Google Business Profile optimization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LinkedIn thought leadership strategy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3B82F6"/>
                </a:solidFill>
                <a:latin typeface="Calibri"/>
              </a:defRPr>
            </a:pPr>
            <a:r>
              <a:t>Priority 3: Ongoing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Wikipedia disambiguation strategy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Industry publication mentions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Backlink strategy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06B6D4"/>
                </a:solidFill>
                <a:latin typeface="Calibri"/>
              </a:defRPr>
            </a:pPr>
            <a:r>
              <a:t>Each action includes auto-generated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06B6D4"/>
                </a:solidFill>
                <a:latin typeface="Calibri"/>
              </a:defRPr>
            </a:pPr>
            <a:r>
              <a:t>content samples ready to deploy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Hackathon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2296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9C9C"/>
                </a:solidFill>
                <a:latin typeface="Calibri"/>
              </a:defRPr>
            </a:pPr>
            <a:r>
              <a:t>How The AI Shelf meets every requirement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109728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Calibri"/>
              </a:defRPr>
            </a:pPr>
            <a:r>
              <a:t>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4630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5+ high-intent queries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39" y="14630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D4D4D4"/>
                </a:solidFill>
                <a:latin typeface="Calibri"/>
              </a:defRPr>
            </a:pPr>
            <a:r>
              <a:t>6 queries (3 discovery + 3 verification)</a:t>
            </a:r>
            <a:br/>
            <a:r>
              <a:t>with intent analysis for each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303520" cy="109728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508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Calibri"/>
              </a:defRPr>
            </a:pPr>
            <a:r>
              <a:t>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4630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2+ AI systems / search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14630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D4D4D4"/>
                </a:solidFill>
                <a:latin typeface="Calibri"/>
              </a:defRPr>
            </a:pPr>
            <a:r>
              <a:t>Claude (AI responses) + Tavily (web search)</a:t>
            </a:r>
            <a:br/>
            <a:r>
              <a:t>= 2 distinct systems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51760"/>
            <a:ext cx="5303520" cy="109728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788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Calibri"/>
              </a:defRPr>
            </a:pPr>
            <a:r>
              <a:t>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7432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Extract brand mentions,</a:t>
            </a:r>
            <a:br/>
            <a:r>
              <a:t>competitors, position, sentiment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39" y="27432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D4D4D4"/>
                </a:solidFill>
                <a:latin typeface="Calibri"/>
              </a:defRPr>
            </a:pPr>
            <a:r>
              <a:t>JS string matching extracts all four</a:t>
            </a:r>
            <a:br/>
            <a:r>
              <a:t>from each AI response automatically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651760"/>
            <a:ext cx="5303520" cy="109728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788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Calibri"/>
              </a:defRPr>
            </a:pPr>
            <a:r>
              <a:t>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7432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Calculate Share of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7432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D4D4D4"/>
                </a:solidFill>
                <a:latin typeface="Calibri"/>
              </a:defRPr>
            </a:pPr>
            <a:r>
              <a:t>Discovery Score + Trust Score</a:t>
            </a:r>
            <a:br/>
            <a:r>
              <a:t>+ Overall Score + Archetype badge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31920"/>
            <a:ext cx="5303520" cy="109728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069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Calibri"/>
              </a:defRPr>
            </a:pPr>
            <a:r>
              <a:t>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023359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Show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39" y="4023359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D4D4D4"/>
                </a:solidFill>
                <a:latin typeface="Calibri"/>
              </a:defRPr>
            </a:pPr>
            <a:r>
              <a:t>Every step expandable with raw data</a:t>
            </a:r>
            <a:br/>
            <a:r>
              <a:t>+ clickable source URLs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931920"/>
            <a:ext cx="5303520" cy="109728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4069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Calibri"/>
              </a:defRPr>
            </a:pPr>
            <a:r>
              <a:t>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023359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Competitor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4023359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D4D4D4"/>
                </a:solidFill>
                <a:latin typeface="Calibri"/>
              </a:defRPr>
            </a:pPr>
            <a:r>
              <a:t>Gap Analysis table: brand vs competitor</a:t>
            </a:r>
            <a:br/>
            <a:r>
              <a:t>across 7+ factors with evidence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212079"/>
            <a:ext cx="5303520" cy="109728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349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Calibri"/>
              </a:defRPr>
            </a:pPr>
            <a:r>
              <a:t>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303519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Auto-generate improvement content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39" y="5303519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D4D4D4"/>
                </a:solidFill>
                <a:latin typeface="Calibri"/>
              </a:defRPr>
            </a:pPr>
            <a:r>
              <a:t>Wikipedia drafts, Schema.org code,</a:t>
            </a:r>
            <a:br/>
            <a:r>
              <a:t>comparison page outlines — ready to use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5212079"/>
            <a:ext cx="5303520" cy="109728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5349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Calibri"/>
              </a:defRPr>
            </a:pPr>
            <a:r>
              <a:t>OK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303519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Prioritized action plan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5303519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D4D4D4"/>
                </a:solidFill>
                <a:latin typeface="Calibri"/>
              </a:defRPr>
            </a:pPr>
            <a:r>
              <a:t>3-tier priority: This Week / Month / Ongoing</a:t>
            </a:r>
            <a:br/>
            <a:r>
              <a:t>with expected impact metrics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ACC15"/>
                </a:solidFill>
                <a:latin typeface="Calibri"/>
              </a:defRPr>
            </a:pPr>
            <a:r>
              <a:t>Why We Win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029200" cy="32004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188720"/>
            <a:ext cx="4572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Judging Criteria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22C55E"/>
                </a:solidFill>
                <a:latin typeface="Calibri"/>
              </a:defRPr>
            </a:pPr>
            <a:r>
              <a:t>Reliability (30%)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D4D4D4"/>
                </a:solidFill>
                <a:latin typeface="Calibri"/>
              </a:defRPr>
            </a:pPr>
            <a:r>
              <a:t>  Vercel deployed + every conclusion has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D4D4D4"/>
                </a:solidFill>
                <a:latin typeface="Calibri"/>
              </a:defRPr>
            </a:pPr>
            <a:r>
              <a:t>  clickable source links + error handling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3B82F6"/>
                </a:solidFill>
                <a:latin typeface="Calibri"/>
              </a:defRPr>
            </a:pPr>
            <a:r>
              <a:t>Insight Quality (25%)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D4D4D4"/>
                </a:solidFill>
                <a:latin typeface="Calibri"/>
              </a:defRPr>
            </a:pPr>
            <a:r>
              <a:t>  Dual-scenario analysis + intent labels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D4D4D4"/>
                </a:solidFill>
                <a:latin typeface="Calibri"/>
              </a:defRPr>
            </a:pPr>
            <a:r>
              <a:t>  + Trust Score is our unique metric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A855F7"/>
                </a:solidFill>
                <a:latin typeface="Calibri"/>
              </a:defRPr>
            </a:pPr>
            <a:r>
              <a:t>Technical Robustness (25%)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D4D4D4"/>
                </a:solidFill>
                <a:latin typeface="Calibri"/>
              </a:defRPr>
            </a:pPr>
            <a:r>
              <a:t>  Tavily deep usage + structured output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D4D4D4"/>
                </a:solidFill>
                <a:latin typeface="Calibri"/>
              </a:defRPr>
            </a:pPr>
            <a:r>
              <a:t>  + parallel API + SSE streaming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FACC15"/>
                </a:solidFill>
                <a:latin typeface="Calibri"/>
              </a:defRPr>
            </a:pPr>
            <a:r>
              <a:t>Clarity to CEO (20%)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D4D4D4"/>
                </a:solidFill>
                <a:latin typeface="Calibri"/>
              </a:defRPr>
            </a:pPr>
            <a:r>
              <a:t>  One sentence: "AI doesn't know you"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D4D4D4"/>
                </a:solidFill>
                <a:latin typeface="Calibri"/>
              </a:defRPr>
            </a:pPr>
            <a:r>
              <a:t>  + 0% vs 67% comparison = instant clarity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212080" cy="32004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188720"/>
            <a:ext cx="4754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What Makes Us Different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9C9C9C"/>
                </a:solidFill>
                <a:latin typeface="Calibri"/>
              </a:defRPr>
            </a:pPr>
            <a:r>
              <a:t>Others may do: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C9C9C"/>
                </a:solidFill>
                <a:latin typeface="Calibri"/>
              </a:defRPr>
            </a:pPr>
            <a:r>
              <a:t>  Only discovery analysis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22C55E"/>
                </a:solidFill>
                <a:latin typeface="Calibri"/>
              </a:defRPr>
            </a:pPr>
            <a:r>
              <a:t>We do: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2C55E"/>
                </a:solidFill>
                <a:latin typeface="Calibri"/>
              </a:defRPr>
            </a:pPr>
            <a:r>
              <a:t>  Discovery + Verification (full journey)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9C9C9C"/>
                </a:solidFill>
                <a:latin typeface="Calibri"/>
              </a:defRPr>
            </a:pPr>
            <a:r>
              <a:t>Others may do: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C9C9C"/>
                </a:solidFill>
                <a:latin typeface="Calibri"/>
              </a:defRPr>
            </a:pPr>
            <a:r>
              <a:t>  Just keywords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22C55E"/>
                </a:solidFill>
                <a:latin typeface="Calibri"/>
              </a:defRPr>
            </a:pPr>
            <a:r>
              <a:t>We do: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2C55E"/>
                </a:solidFill>
                <a:latin typeface="Calibri"/>
              </a:defRPr>
            </a:pPr>
            <a:r>
              <a:t>  Each query has intent analysis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9C9C9C"/>
                </a:solidFill>
                <a:latin typeface="Calibri"/>
              </a:defRPr>
            </a:pPr>
            <a:r>
              <a:t>Others may do: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C9C9C"/>
                </a:solidFill>
                <a:latin typeface="Calibri"/>
              </a:defRPr>
            </a:pPr>
            <a:r>
              <a:t>  One SoM score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22C55E"/>
                </a:solidFill>
                <a:latin typeface="Calibri"/>
              </a:defRPr>
            </a:pPr>
            <a:r>
              <a:t>We do: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2C55E"/>
                </a:solidFill>
                <a:latin typeface="Calibri"/>
              </a:defRPr>
            </a:pPr>
            <a:r>
              <a:t>  Discovery Score + Trust Score (2D)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9C9C9C"/>
                </a:solidFill>
                <a:latin typeface="Calibri"/>
              </a:defRPr>
            </a:pPr>
            <a:r>
              <a:t>Others may do: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9C9C9C"/>
                </a:solidFill>
                <a:latin typeface="Calibri"/>
              </a:defRPr>
            </a:pPr>
            <a:r>
              <a:t>  Nike / HubSpot demo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22C55E"/>
                </a:solidFill>
                <a:latin typeface="Calibri"/>
              </a:defRPr>
            </a:pPr>
            <a:r>
              <a:t>We do: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22C55E"/>
                </a:solidFill>
                <a:latin typeface="Calibri"/>
              </a:defRPr>
            </a:pPr>
            <a:r>
              <a:t>  Real dental lab with real pain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10698480" cy="18288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66344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FACC15"/>
                </a:solidFill>
                <a:latin typeface="Calibri"/>
              </a:defRPr>
            </a:pPr>
            <a:r>
              <a:t>The Pitch in One Sentence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"iCo spent 5 years doing outbound sales, but every visit's conversion rate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was silently undermined by AI saying "I don't know this company."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In 30 seconds, we found the blind spot, diagnosed the cause, and wrote the prescription.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Any brand, any industry, can run the same check."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ACC15"/>
                </a:solidFill>
                <a:latin typeface="Calibri"/>
              </a:defRPr>
            </a:pPr>
            <a:r>
              <a:t>Try It Yourself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5603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  <a:latin typeface="Calibri"/>
              </a:defRPr>
            </a:pPr>
            <a:r>
              <a:t>ai-shelf.vercel.app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C9C9C"/>
                </a:solidFill>
                <a:latin typeface="Calibri"/>
              </a:defRPr>
            </a:pPr>
            <a:r>
              <a:t>Click "Try: iCo Dental Group" and hit Analyze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57200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9C9C9C"/>
                </a:solidFill>
                <a:latin typeface="Calibri"/>
              </a:defRPr>
            </a:pPr>
            <a:r>
              <a:t>Built with:</a:t>
            </a:r>
          </a:p>
          <a:p>
            <a:pPr algn="ctr">
              <a:spcAft>
                <a:spcPts val="4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Claude Haiku 4.5  |  Tavily Search  |  Vercel AI SDK  |  Next.js 15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400"/>
              </a:spcAft>
              <a:defRPr sz="1600" b="0">
                <a:solidFill>
                  <a:srgbClr val="9C9C9C"/>
                </a:solidFill>
                <a:latin typeface="Calibri"/>
              </a:defRPr>
            </a:pPr>
            <a:r>
              <a:t>Max Wang  |  Pulse AI x CASTGNY Hackathon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